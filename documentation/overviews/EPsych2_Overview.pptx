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EPsych v2 is an actively used laboratory toolbox, not a greenfield framework. This deck maps what is in the repository and how the pieces fit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headline: broad scope, deliberately layered, and honest about being a mixed-vintage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new user remembers only one thing, it is this three-command sequence. Design, configure, run,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layers: GUIs, the EPsych core plus stimgen and psychophysics, and the hardware interface beneath. The dependency arrow never runs from stimgen back into EPsych.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protocol owns hardware, options, the compiled trial table, and versioning metadata. Compilation is a cross-product over unpaired parameter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MATLAB timer drives the session. Start builds the trial list and dispatches trial one; RunTime polls for completion and dispatches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events on one broadcaster. This is the extension point that keeps the trial loop untouched when a lab adds its own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concrete backends today, four still under development. The registry caveat is the most common trap when adding an eighth.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submodule boundary is a real architectural constraint, not a packaging detail. Cloning without --recurse-submodules degrades protocols silently, which is why startup warns.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class hierarchy serves live monitoring and post-hoc analysis, which is why the same threshold numbers appear during and after 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GUI layer is where labs diverge most, so BoxGUI absorbs the boilerplate and leaves subclasses with one method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repository is meant to be extended at these four seams rather than forked. Each row names an existing class to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commands get a new user to a running GUI. The submodule warning is the single most common setup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15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212848"/>
            <a:ext cx="1627632" cy="1627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41605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9FB4BF"/>
                </a:solidFill>
                <a:latin typeface="Calibri"/>
              </a:rPr>
              <a:t>Design, run, and analyze
behavioral experiments in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7830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09353"/>
                </a:solidFill>
                <a:latin typeface="Arial"/>
              </a:rPr>
              <a:t>REPOSITORY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Arial"/>
              </a:rPr>
              <a:t>EPsych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310128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DD8"/>
                </a:solidFill>
                <a:latin typeface="Calibri"/>
              </a:rPr>
              <a:t>A MATLAB toolbox for behavioral experiments — protocol design, session runtime, hardware I/O, stimulus generation, and online analysis in one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452628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976</a:t>
            </a:r>
          </a:p>
          <a:p>
            <a:pPr algn="l"/>
            <a:r>
              <a:rPr sz="950" b="1" i="0">
                <a:solidFill>
                  <a:srgbClr val="9FB4BF"/>
                </a:solidFill>
                <a:latin typeface="Arial"/>
              </a:rPr>
              <a:t>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452628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2019</a:t>
            </a:r>
          </a:p>
          <a:p>
            <a:pPr algn="l"/>
            <a:r>
              <a:rPr sz="950" b="1" i="0">
                <a:solidFill>
                  <a:srgbClr val="9FB4BF"/>
                </a:solidFill>
                <a:latin typeface="Arial"/>
              </a:rPr>
              <a:t>FIRST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452628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GPL-3.0</a:t>
            </a:r>
          </a:p>
          <a:p>
            <a:pPr algn="l"/>
            <a:r>
              <a:rPr sz="950" b="1" i="0">
                <a:solidFill>
                  <a:srgbClr val="9FB4BF"/>
                </a:solidFill>
                <a:latin typeface="Arial"/>
              </a:rPr>
              <a:t>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8704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E9AA8"/>
                </a:solidFill>
                <a:latin typeface="Calibri"/>
              </a:rPr>
              <a:t>Daniel Stolzberg, PhD   ·   github.com/dstolz/epsych2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What EPsych is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692640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27632"/>
            <a:ext cx="6208776" cy="6835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1E27"/>
                </a:solidFill>
                <a:latin typeface="Calibri"/>
              </a:rPr>
              <a:t>One repository, one workflow. </a:t>
            </a:r>
            <a:r>
              <a:rPr sz="1350" b="0" i="0">
                <a:solidFill>
                  <a:srgbClr val="0F1E27"/>
                </a:solidFill>
                <a:latin typeface="Calibri"/>
              </a:rPr>
              <a:t>Protocol authoring, a session runtime GUI, a hardware abstraction layer, stimulus generation and calibration, and online psychophysics all ship together.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520934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5926"/>
            <a:ext cx="6208776" cy="6835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1E27"/>
                </a:solidFill>
                <a:latin typeface="Calibri"/>
              </a:rPr>
              <a:t>Built for TDT auditory labs, not locked to them. </a:t>
            </a:r>
            <a:r>
              <a:rPr sz="1350" b="0" i="0">
                <a:solidFill>
                  <a:srgbClr val="0F1E27"/>
                </a:solidFill>
                <a:latin typeface="Calibri"/>
              </a:rPr>
              <a:t>The protocol file records which backend an experiment uses, and the runtime is written against a single hw.Interface contract, so rigs are swappable.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349228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284220"/>
            <a:ext cx="6208776" cy="6835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1E27"/>
                </a:solidFill>
                <a:latin typeface="Calibri"/>
              </a:rPr>
              <a:t>An evolved tool, by design. </a:t>
            </a:r>
            <a:r>
              <a:rPr sz="1350" b="0" i="0">
                <a:solidFill>
                  <a:srgbClr val="0F1E27"/>
                </a:solidFill>
                <a:latin typeface="Calibri"/>
              </a:rPr>
              <a:t>Legacy procedural code, GUIDE-era GUIs, and newer object-oriented runtime components coexist. That mixed structure is the key architectural fact to grasp before making changes.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177522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112514"/>
            <a:ext cx="6208776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1E27"/>
                </a:solidFill>
                <a:latin typeface="Calibri"/>
              </a:rPr>
              <a:t>Extensible without forking. </a:t>
            </a:r>
            <a:r>
              <a:rPr sz="1350" b="0" i="0">
                <a:solidFill>
                  <a:srgbClr val="0F1E27"/>
                </a:solidFill>
                <a:latin typeface="Calibri"/>
              </a:rPr>
              <a:t>Trial selectors, save functions, box GUIs, and analysis classes are all pluggable through documented seams.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627632"/>
            <a:ext cx="2212848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90195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D6E8A"/>
                </a:solidFill>
                <a:latin typeface="Arial"/>
              </a:rPr>
              <a:t>~89K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25420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E27"/>
                </a:solidFill>
                <a:latin typeface="Calibri"/>
              </a:rPr>
              <a:t>lines of MATLAB</a:t>
            </a:r>
          </a:p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excluding submodule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627632"/>
            <a:ext cx="2212848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190195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D6E8A"/>
                </a:solidFill>
                <a:latin typeface="Arial"/>
              </a:rPr>
              <a:t>124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5832" y="25420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E27"/>
                </a:solidFill>
                <a:latin typeface="Calibri"/>
              </a:rPr>
              <a:t>class definitions</a:t>
            </a:r>
          </a:p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across 9 packages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511296"/>
            <a:ext cx="2212848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3785615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D6E8A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425696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E27"/>
                </a:solidFill>
                <a:latin typeface="Calibri"/>
              </a:rPr>
              <a:t>hardware backends</a:t>
            </a:r>
          </a:p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one shared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511296"/>
            <a:ext cx="2212848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3785615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D6E8A"/>
                </a:solidFill>
                <a:latin typeface="Arial"/>
              </a:rPr>
              <a:t>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4425696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E27"/>
                </a:solidFill>
                <a:latin typeface="Calibri"/>
              </a:rPr>
              <a:t>documentation pages</a:t>
            </a:r>
          </a:p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plus a project wiki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138928"/>
            <a:ext cx="6446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THE PACKAGES UNDER obj/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68112"/>
            <a:ext cx="82918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+epsych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5839" y="5468112"/>
            <a:ext cx="55930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+hw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74875" y="5468112"/>
            <a:ext cx="57518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+gui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9786" y="5468112"/>
            <a:ext cx="133400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+psychophysics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3521" y="5468112"/>
            <a:ext cx="105460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+stimbridge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7858" y="5468112"/>
            <a:ext cx="79108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+teensy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8668" y="5468112"/>
            <a:ext cx="108953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+peripherals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7930" y="5468112"/>
            <a:ext cx="57518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+util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52841" y="5468112"/>
            <a:ext cx="73075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D6E8A"/>
                </a:solidFill>
                <a:latin typeface="Arial"/>
              </a:rPr>
              <a:t>+eplog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8191" y="5468112"/>
            <a:ext cx="1715008" cy="246888"/>
          </a:xfrm>
          <a:prstGeom prst="roundRect">
            <a:avLst>
              <a:gd name="adj" fmla="val 5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642A"/>
                </a:solidFill>
                <a:latin typeface="Arial"/>
              </a:rPr>
              <a:t>stimgen  ·  submodule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THE USER'S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Four stages, from protocol to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Most of the repository exists to support one of these four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248716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587752"/>
            <a:ext cx="384048" cy="384048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0592" y="2624328"/>
            <a:ext cx="310896" cy="310896"/>
          </a:xfrm>
          <a:prstGeom prst="rect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18211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Design a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02736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Protocol Designer — conditions, pairing, triggers, compiled to an .eprot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3218688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D6E8A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331720"/>
            <a:ext cx="248716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587752"/>
            <a:ext cx="384048" cy="384048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2664" y="2624328"/>
            <a:ext cx="310896" cy="310896"/>
          </a:xfrm>
          <a:prstGeom prst="rect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318211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Configure subjects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02736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RunExpt GUI — load the protocol, add subjects, pick the hardware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3218688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D6E8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331720"/>
            <a:ext cx="248716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2" y="2587752"/>
            <a:ext cx="384048" cy="384048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6" y="2624328"/>
            <a:ext cx="310896" cy="310896"/>
          </a:xfrm>
          <a:prstGeom prst="rect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18211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Run the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602736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Runtime dispatches trials to TDT, Teensy or Bpod; Box GUIs track behavior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18688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D6E8A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2331720"/>
            <a:ext cx="248716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27464" y="2587752"/>
            <a:ext cx="384048" cy="384048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36808" y="2624328"/>
            <a:ext cx="310896" cy="310896"/>
          </a:xfrm>
          <a:prstGeom prst="rect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318211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Analyze the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3602736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BitMask decoding, d′, staircase and threshold estimates from saved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230368"/>
            <a:ext cx="345643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epsych_startup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7842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prepares MATLAB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230368"/>
            <a:ext cx="345643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539496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epsych.ProtocolDesigner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567842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prepares the protocol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5230368"/>
            <a:ext cx="345643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539496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epsych.RunExpt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567842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runs the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LAYERED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Architecture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74519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GUIS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7128" y="1810512"/>
            <a:ext cx="1556258" cy="274320"/>
          </a:xfrm>
          <a:prstGeom prst="roundRect">
            <a:avLst>
              <a:gd name="adj" fmla="val 50000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Protocol 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9690" y="1810512"/>
            <a:ext cx="892683" cy="274320"/>
          </a:xfrm>
          <a:prstGeom prst="roundRect">
            <a:avLst>
              <a:gd name="adj" fmla="val 50000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RunExpt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8677" y="1810512"/>
            <a:ext cx="953008" cy="274320"/>
          </a:xfrm>
          <a:prstGeom prst="roundRect">
            <a:avLst>
              <a:gd name="adj" fmla="val 50000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Box GUIs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7989" y="1810512"/>
            <a:ext cx="1349883" cy="274320"/>
          </a:xfrm>
          <a:prstGeom prst="roundRect">
            <a:avLst>
              <a:gd name="adj" fmla="val 50000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Phase Selector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4176" y="1810512"/>
            <a:ext cx="1568809" cy="274320"/>
          </a:xfrm>
          <a:prstGeom prst="roundRect">
            <a:avLst>
              <a:gd name="adj" fmla="val 50000"/>
            </a:avLst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Staircase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957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D6E8A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24912"/>
            <a:ext cx="4343400" cy="2103120"/>
          </a:xfrm>
          <a:prstGeom prst="roundRect">
            <a:avLst>
              <a:gd name="adj" fmla="val 6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9443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6E8A"/>
                </a:solidFill>
                <a:latin typeface="Arial"/>
              </a:rPr>
              <a:t>EPSYCH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291840"/>
            <a:ext cx="88633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Protocol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5597" y="3291840"/>
            <a:ext cx="8768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0421" y="3291840"/>
            <a:ext cx="11846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TrialSelector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3694176"/>
            <a:ext cx="85458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BitMask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3847" y="3694176"/>
            <a:ext cx="7752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24528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D6E8A"/>
                </a:solidFill>
                <a:latin typeface="Calibri"/>
              </a:rPr>
              <a:t>Trial dispatch, parameter queries, session state, data save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0056" y="2724912"/>
            <a:ext cx="3246120" cy="2103120"/>
          </a:xfrm>
          <a:prstGeom prst="roundRect">
            <a:avLst>
              <a:gd name="adj" fmla="val 6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29443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STIMGEN · SUBMODULE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4376" y="3291840"/>
            <a:ext cx="9528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StimType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5251" y="3291840"/>
            <a:ext cx="9149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StimPlay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94376" y="3694176"/>
            <a:ext cx="137528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B5642A"/>
                </a:solidFill>
                <a:latin typeface="Arial"/>
              </a:rPr>
              <a:t>StimCalibration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4224528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B5642A"/>
                </a:solidFill>
                <a:latin typeface="Calibri"/>
              </a:rPr>
              <a:t>Stimulus objects and calibration, via the stimbridge seam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75904" y="2724912"/>
            <a:ext cx="3246120" cy="2103120"/>
          </a:xfrm>
          <a:prstGeom prst="roundRect">
            <a:avLst>
              <a:gd name="adj" fmla="val 6000"/>
            </a:avLst>
          </a:prstGeom>
          <a:solidFill>
            <a:srgbClr val="E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29443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53A49"/>
                </a:solidFill>
                <a:latin typeface="Arial"/>
              </a:rPr>
              <a:t>PSYCHOPHYSICS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50224" y="3291840"/>
            <a:ext cx="94983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3A49"/>
                </a:solidFill>
                <a:latin typeface="Arial"/>
              </a:rPr>
              <a:t>Staircase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8073" y="3291840"/>
            <a:ext cx="99428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3A49"/>
                </a:solidFill>
                <a:latin typeface="Arial"/>
              </a:rPr>
              <a:t>BestPEST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50372" y="3291840"/>
            <a:ext cx="60058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3A49"/>
                </a:solidFill>
                <a:latin typeface="Arial"/>
              </a:rPr>
              <a:t>MLP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50224" y="3694176"/>
            <a:ext cx="95935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3A49"/>
                </a:solidFill>
                <a:latin typeface="Arial"/>
              </a:rPr>
              <a:t>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4224528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53A49"/>
                </a:solidFill>
                <a:latin typeface="Calibri"/>
              </a:rPr>
              <a:t>Online and offline threshold estimation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8646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D6E8A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175504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4864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E27"/>
                </a:solidFill>
                <a:latin typeface="Arial"/>
              </a:rPr>
              <a:t>HW.INTERFACE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50008" y="5431536"/>
            <a:ext cx="575183" cy="274320"/>
          </a:xfrm>
          <a:prstGeom prst="roundRect">
            <a:avLst>
              <a:gd name="adj" fmla="val 50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TDT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71494" y="5431536"/>
            <a:ext cx="800459" cy="274320"/>
          </a:xfrm>
          <a:prstGeom prst="roundRect">
            <a:avLst>
              <a:gd name="adj" fmla="val 50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Teensy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18258" y="5431536"/>
            <a:ext cx="664083" cy="274320"/>
          </a:xfrm>
          <a:prstGeom prst="roundRect">
            <a:avLst>
              <a:gd name="adj" fmla="val 50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Bpod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8645" y="5431536"/>
            <a:ext cx="991108" cy="274320"/>
          </a:xfrm>
          <a:prstGeom prst="roundRect">
            <a:avLst>
              <a:gd name="adj" fmla="val 50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Intan RHX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66057" y="5431536"/>
            <a:ext cx="1159383" cy="274320"/>
          </a:xfrm>
          <a:prstGeom prst="roundRect">
            <a:avLst>
              <a:gd name="adj" fmla="val 50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D6E8A"/>
                </a:solidFill>
                <a:latin typeface="Arial"/>
              </a:rPr>
              <a:t>VlcRecorder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48640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FB4BF"/>
                </a:solidFill>
                <a:latin typeface="Calibri"/>
              </a:rPr>
              <a:t>one backend contract, swappable rigs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66E7C"/>
                </a:solidFill>
                <a:latin typeface="Calibri"/>
              </a:rPr>
              <a:t>GUIs sit on top; </a:t>
            </a:r>
            <a:r>
              <a:rPr sz="1150" b="0" i="0">
                <a:solidFill>
                  <a:srgbClr val="1D6E8A"/>
                </a:solidFill>
                <a:latin typeface="Consolas"/>
              </a:rPr>
              <a:t>stimgen</a:t>
            </a:r>
            <a:r>
              <a:rPr sz="1200" b="0" i="0">
                <a:solidFill>
                  <a:srgbClr val="566E7C"/>
                </a:solidFill>
                <a:latin typeface="Calibri"/>
              </a:rPr>
              <a:t> is a submodule with no dependency on EPsych, reached only through the </a:t>
            </a:r>
            <a:r>
              <a:rPr sz="1150" b="0" i="0">
                <a:solidFill>
                  <a:srgbClr val="1D6E8A"/>
                </a:solidFill>
                <a:latin typeface="Consolas"/>
              </a:rPr>
              <a:t>stimbridge</a:t>
            </a:r>
            <a:r>
              <a:rPr sz="1200" b="0" i="0">
                <a:solidFill>
                  <a:srgbClr val="566E7C"/>
                </a:solidFill>
                <a:latin typeface="Calibri"/>
              </a:rPr>
              <a:t> seam; every rig lands on one backend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The protocol is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epsych.Protocol is the central data model, serialized to an .eprot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8366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WHAT A PROTOCOL CAPTURES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295429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31136"/>
            <a:ext cx="5797296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Interfaces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the hw.Interface objects, always including at least one hw.Software design-time parameter store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869977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05684"/>
            <a:ext cx="5797296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Options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trial selector class (trialFunc), compileAtRuntime, IncludeWAVBuffers, ConnectionType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444525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380232"/>
            <a:ext cx="5797296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COMPILED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the trial table produced by compile(): parameters, trials, writeparams, ntrials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19073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954780"/>
            <a:ext cx="5797296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meta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format version, EPsych version, and a protocolVersion string bumped on every save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53712"/>
            <a:ext cx="603504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77316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5642A"/>
                </a:solidFill>
                <a:latin typeface="Arial"/>
              </a:rPr>
              <a:t>WHAT ENDS UP ON DISK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D6E8A"/>
                </a:solidFill>
                <a:latin typeface="Consolas"/>
              </a:rPr>
              <a:t>.eprot</a:t>
            </a:r>
            <a:r>
              <a:rPr sz="1250" b="0" i="0">
                <a:solidFill>
                  <a:srgbClr val="0F1E27"/>
                </a:solidFill>
                <a:latin typeface="Calibri"/>
              </a:rPr>
              <a:t> protocols (legacy </a:t>
            </a:r>
            <a:r>
              <a:rPr sz="1200" b="0" i="0">
                <a:solidFill>
                  <a:srgbClr val="566E7C"/>
                </a:solidFill>
                <a:latin typeface="Consolas"/>
              </a:rPr>
              <a:t>.prot</a:t>
            </a:r>
            <a:r>
              <a:rPr sz="1250" b="0" i="0">
                <a:solidFill>
                  <a:srgbClr val="0F1E27"/>
                </a:solidFill>
                <a:latin typeface="Calibri"/>
              </a:rPr>
              <a:t> still loads)   ·   </a:t>
            </a:r>
            <a:r>
              <a:rPr sz="1200" b="1" i="0">
                <a:solidFill>
                  <a:srgbClr val="1D6E8A"/>
                </a:solidFill>
                <a:latin typeface="Consolas"/>
              </a:rPr>
              <a:t>.ecfg</a:t>
            </a:r>
            <a:r>
              <a:rPr sz="1250" b="0" i="0">
                <a:solidFill>
                  <a:srgbClr val="0F1E27"/>
                </a:solidFill>
                <a:latin typeface="Calibri"/>
              </a:rPr>
              <a:t> session configs, so a whole setup reloads in one step   ·   JSON phase files for named parameter sets that switch training stages without editing the protocol.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83664"/>
            <a:ext cx="4718304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2121408"/>
            <a:ext cx="4160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5642A"/>
                </a:solidFill>
                <a:latin typeface="Arial"/>
              </a:rPr>
              <a:t>COMPILATION</a:t>
            </a:r>
          </a:p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D6E8A"/>
                </a:solidFill>
                <a:latin typeface="Consolas"/>
              </a:rPr>
              <a:t>compile()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 expands the cross-product of unpaired parameter levels into the trials matrix. </a:t>
            </a:r>
            <a:r>
              <a:rPr sz="1300" b="1" i="0">
                <a:solidFill>
                  <a:srgbClr val="0F1E27"/>
                </a:solidFill>
                <a:latin typeface="Calibri"/>
              </a:rPr>
              <a:t>Paired parameters advance together.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0" i="0">
                <a:solidFill>
                  <a:srgbClr val="566E7C"/>
                </a:solidFill>
                <a:latin typeface="Calibri"/>
              </a:rPr>
              <a:t>Several parts of the codebase depend on the compiled structure being stable — changes to its format have wide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33087"/>
            <a:ext cx="4718304" cy="1938528"/>
          </a:xfrm>
          <a:prstGeom prst="roundRect">
            <a:avLst>
              <a:gd name="adj" fmla="val 8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4370832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1D6E8A"/>
                </a:solidFill>
                <a:latin typeface="Arial"/>
              </a:rPr>
              <a:t>PARAMETER EXPRESSIONS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E27"/>
                </a:solidFill>
                <a:latin typeface="Calibri"/>
              </a:rPr>
              <a:t>A parameter can reference another — </a:t>
            </a:r>
            <a:r>
              <a:rPr sz="1200" b="0" i="0">
                <a:solidFill>
                  <a:srgbClr val="153A49"/>
                </a:solidFill>
                <a:latin typeface="Consolas"/>
              </a:rPr>
              <a:t>Param.Prop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 or </a:t>
            </a:r>
            <a:r>
              <a:rPr sz="1200" b="0" i="0">
                <a:solidFill>
                  <a:srgbClr val="153A49"/>
                </a:solidFill>
                <a:latin typeface="Consolas"/>
              </a:rPr>
              <a:t>Module.Param.Prop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566E7C"/>
                </a:solidFill>
                <a:latin typeface="Calibri"/>
              </a:rPr>
              <a:t>On String and StimType parameters the result is a 1-based index into </a:t>
            </a:r>
            <a:r>
              <a:rPr sz="1150" b="0" i="0">
                <a:solidFill>
                  <a:srgbClr val="153A49"/>
                </a:solidFill>
                <a:latin typeface="Consolas"/>
              </a:rPr>
              <a:t>Values</a:t>
            </a:r>
            <a:r>
              <a:rPr sz="1200" b="0" i="0">
                <a:solidFill>
                  <a:srgbClr val="566E7C"/>
                </a:solidFill>
                <a:latin typeface="Calibri"/>
              </a:rPr>
              <a:t> instead of the value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Runtime and the trial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E27"/>
                </a:solidFill>
                <a:latin typeface="Arial"/>
              </a:rPr>
              <a:t>NOCONFIG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9696" y="16870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FB4BF"/>
                </a:solidFill>
                <a:latin typeface="Arial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2304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2304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E27"/>
                </a:solidFill>
                <a:latin typeface="Arial"/>
              </a:rPr>
              <a:t>CONFIGLOADED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16870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FB4BF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E27"/>
                </a:solidFill>
                <a:latin typeface="Arial"/>
              </a:rPr>
              <a:t>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6870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FB4BF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16870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FB4BF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E27"/>
                </a:solidFill>
                <a:latin typeface="Arial"/>
              </a:rPr>
              <a:t>POSTRUN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6870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FB4BF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8" y="1572768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168706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E27"/>
                </a:solidFill>
                <a:latin typeface="Arial"/>
              </a:rPr>
              <a:t>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1396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6E8A"/>
                </a:solidFill>
                <a:latin typeface="Consolas"/>
              </a:rPr>
              <a:t>PRGMSTATE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—  ERROR is reachable from any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7249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TIMER CALLBACK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72384"/>
            <a:ext cx="7882127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3287268"/>
            <a:ext cx="356616" cy="356616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20040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D6E8A"/>
                </a:solidFill>
                <a:latin typeface="Consolas"/>
              </a:rPr>
              <a:t>ep_TimerFcn_Start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Build RUNTIME.TRIALS, create selectors, resolve the CORE trigger parameters, and dispatch the first trial.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68496"/>
            <a:ext cx="7882127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" y="4183380"/>
            <a:ext cx="356616" cy="356616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96511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D6E8A"/>
                </a:solidFill>
                <a:latin typeface="Consolas"/>
              </a:rPr>
              <a:t>ep_TimerFcn_RunTime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Poll the TrialComplete trigger; on completion append data to the crash-recovery file, pick the next trial, dispatch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64608"/>
            <a:ext cx="7882127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079492"/>
            <a:ext cx="356616" cy="356616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92624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D6E8A"/>
                </a:solidFill>
                <a:latin typeface="Consolas"/>
              </a:rPr>
              <a:t>ep_TimerFcn_Stop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Return interfaces to Idle, broadcast ModeChange, tear down HELPER, save via the configured save function.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760720"/>
            <a:ext cx="7882127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5975604"/>
            <a:ext cx="356616" cy="356616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888736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D6E8A"/>
                </a:solidFill>
                <a:latin typeface="Consolas"/>
              </a:rPr>
              <a:t>ep_TimerFcn_Error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66E7C"/>
                </a:solidFill>
                <a:latin typeface="Calibri"/>
              </a:rPr>
              <a:t>Handle timer errors while preserving collected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3072384"/>
            <a:ext cx="2944368" cy="2999232"/>
          </a:xfrm>
          <a:prstGeom prst="roundRect">
            <a:avLst>
              <a:gd name="adj" fmla="val 8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3310128"/>
            <a:ext cx="2423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5642A"/>
                </a:solidFill>
                <a:latin typeface="Arial"/>
              </a:rPr>
              <a:t>SWAPPABLE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0F1E27"/>
                </a:solidFill>
                <a:latin typeface="Calibri"/>
              </a:rPr>
              <a:t>The callback names are configured per session in RunExpt's Customize dialog, so a paradigm can substitute its own timer functions without touching core runtime files.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150" b="0" i="0">
                <a:solidFill>
                  <a:srgbClr val="B5642A"/>
                </a:solidFill>
                <a:latin typeface="Calibri"/>
              </a:rPr>
              <a:t>Hardware interfaces stay connected across reruns within one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Everything reacts to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epsych.Helper is the broadcaster on Runtime.HELPER. GUIs and analysis objects subscribe rather than poll.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84831"/>
            <a:ext cx="353872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340864"/>
            <a:ext cx="274320" cy="274320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34086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27"/>
                </a:solidFill>
                <a:latin typeface="Arial"/>
              </a:rPr>
              <a:t>NewTrial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1635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00" b="0" i="0">
                <a:solidFill>
                  <a:srgbClr val="566E7C"/>
                </a:solidFill>
                <a:latin typeface="Calibri"/>
              </a:rPr>
              <a:t>A new trial begins and parameters are written to hardware.</a:t>
            </a:r>
          </a:p>
          <a:p>
            <a:pPr algn="l"/>
            <a:r>
              <a:rPr sz="1000" b="0" i="0">
                <a:solidFill>
                  <a:srgbClr val="9FB4BF"/>
                </a:solidFill>
                <a:latin typeface="Calibri"/>
              </a:rPr>
              <a:t>payload  </a:t>
            </a:r>
            <a:r>
              <a:rPr sz="1050" b="0" i="0">
                <a:solidFill>
                  <a:srgbClr val="1D6E8A"/>
                </a:solidFill>
                <a:latin typeface="Consolas"/>
              </a:rPr>
              <a:t>epsych.TrialsData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84831"/>
            <a:ext cx="353872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5152" y="2340864"/>
            <a:ext cx="274320" cy="274320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34086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27"/>
                </a:solidFill>
                <a:latin typeface="Arial"/>
              </a:rPr>
              <a:t>NewData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1635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00" b="0" i="0">
                <a:solidFill>
                  <a:srgbClr val="566E7C"/>
                </a:solidFill>
                <a:latin typeface="Calibri"/>
              </a:rPr>
              <a:t>A trial completed; listeners fold in the result.</a:t>
            </a:r>
          </a:p>
          <a:p>
            <a:pPr algn="l"/>
            <a:r>
              <a:rPr sz="1000" b="0" i="0">
                <a:solidFill>
                  <a:srgbClr val="9FB4BF"/>
                </a:solidFill>
                <a:latin typeface="Calibri"/>
              </a:rPr>
              <a:t>payload  </a:t>
            </a:r>
            <a:r>
              <a:rPr sz="1050" b="0" i="0">
                <a:solidFill>
                  <a:srgbClr val="1D6E8A"/>
                </a:solidFill>
                <a:latin typeface="Consolas"/>
              </a:rPr>
              <a:t>epsych.TrialsData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084831"/>
            <a:ext cx="353872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49056" y="2340864"/>
            <a:ext cx="274320" cy="274320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4086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27"/>
                </a:solidFill>
                <a:latin typeface="Arial"/>
              </a:rPr>
              <a:t>ModeChange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81635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00" b="0" i="0">
                <a:solidFill>
                  <a:srgbClr val="566E7C"/>
                </a:solidFill>
                <a:latin typeface="Calibri"/>
              </a:rPr>
              <a:t>The session changed mode — run, pause, standby, stop.</a:t>
            </a:r>
          </a:p>
          <a:p>
            <a:pPr algn="l"/>
            <a:r>
              <a:rPr sz="1000" b="0" i="0">
                <a:solidFill>
                  <a:srgbClr val="9FB4BF"/>
                </a:solidFill>
                <a:latin typeface="Calibri"/>
              </a:rPr>
              <a:t>payload  </a:t>
            </a:r>
            <a:r>
              <a:rPr sz="1050" b="0" i="0">
                <a:solidFill>
                  <a:srgbClr val="B5642A"/>
                </a:solidFill>
                <a:latin typeface="Consolas"/>
              </a:rPr>
              <a:t>epsych.eventModeChange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WHO IS LISTENING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526565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462272"/>
            <a:ext cx="7534656" cy="250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psychophysics.Psych subclasses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constructed with a Runtime, they update results trial by trial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909089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44796"/>
            <a:ext cx="7534656" cy="250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gui.OnlinePlot, gui.Performance, gui.PsychPlot, gui.History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real-time visualization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5291613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227319"/>
            <a:ext cx="7534656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gui.BoxGUI subclasses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receive onNewTrial / onNewData / onModeChange hooks; the base class owns listener lifecycle and teardown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5878861"/>
            <a:ext cx="77724" cy="7772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814567"/>
            <a:ext cx="7534656" cy="250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Custom paradigm code in cl/ —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the reference pattern for extending the runtime without modifying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4462272"/>
            <a:ext cx="3035808" cy="1609344"/>
          </a:xfrm>
          <a:prstGeom prst="roundRect">
            <a:avLst>
              <a:gd name="adj" fmla="val 8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4700016"/>
            <a:ext cx="2514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1D6E8A"/>
                </a:solidFill>
                <a:latin typeface="Arial"/>
              </a:rPr>
              <a:t>WHY IT MATTERS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0F1E27"/>
                </a:solidFill>
                <a:latin typeface="Calibri"/>
              </a:rPr>
              <a:t>New analysis or visualization attaches to a running session without any change to the trial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One contract, many rigs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Every backend inherits from hw.Interface. Code reads and writes through hw.Parameter, never through a backend-specific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THE hw.Interface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67712"/>
            <a:ext cx="167373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D6E8A"/>
                </a:solidFill>
                <a:latin typeface="Arial"/>
              </a:rPr>
              <a:t>connect / disconnect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8677" y="2267712"/>
            <a:ext cx="230873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D6E8A"/>
                </a:solidFill>
                <a:latin typeface="Arial"/>
              </a:rPr>
              <a:t>get_parameter / set_parameter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5426" y="2267712"/>
            <a:ext cx="73393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D6E8A"/>
                </a:solidFill>
                <a:latin typeface="Arial"/>
              </a:rPr>
              <a:t>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7375" y="2267712"/>
            <a:ext cx="141338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D6E8A"/>
                </a:solidFill>
                <a:latin typeface="Arial"/>
              </a:rPr>
              <a:t>setup_interface()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8774" y="2267712"/>
            <a:ext cx="149275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D6E8A"/>
                </a:solidFill>
                <a:latin typeface="Arial"/>
              </a:rPr>
              <a:t>getCreationSpec()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266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hw.TDT_RPcox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9184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Direct RPvds circuit control; auto-discovers circuit tags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2907792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30266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hw.TDT_Synapse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29184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TDT Synapse API; auto-discovers gizmo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80192" y="3017520"/>
            <a:ext cx="949833" cy="219456"/>
          </a:xfrm>
          <a:prstGeom prst="roundRect">
            <a:avLst>
              <a:gd name="adj" fmla="val 5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5642A"/>
                </a:solidFill>
                <a:latin typeface="Arial"/>
              </a:rPr>
              <a:t>in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40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86791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3308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In-memory backend — design-time store and hardware-free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3749040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386791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hw.Teensy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413308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Teensy 4.x over USB serial; firmware in firmware/EPsychTeensy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80192" y="3858768"/>
            <a:ext cx="949833" cy="219456"/>
          </a:xfrm>
          <a:prstGeom prst="roundRect">
            <a:avLst>
              <a:gd name="adj" fmla="val 5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5642A"/>
                </a:solidFill>
                <a:latin typeface="Arial"/>
              </a:rPr>
              <a:t>in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90288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70916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hw.Bpod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97433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Bpod 0.5/0.6 state machine, speaking the firmware byte protocol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4700016"/>
            <a:ext cx="949833" cy="219456"/>
          </a:xfrm>
          <a:prstGeom prst="roundRect">
            <a:avLst>
              <a:gd name="adj" fmla="val 5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5642A"/>
                </a:solidFill>
                <a:latin typeface="Arial"/>
              </a:rPr>
              <a:t>in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4590288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470916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hw.Intan_RHX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97433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Intan RHX electrophysiology over TCP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80192" y="4700016"/>
            <a:ext cx="949833" cy="219456"/>
          </a:xfrm>
          <a:prstGeom prst="roundRect">
            <a:avLst>
              <a:gd name="adj" fmla="val 5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5642A"/>
                </a:solidFill>
                <a:latin typeface="Arial"/>
              </a:rPr>
              <a:t>in progress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431536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55040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6E8A"/>
                </a:solidFill>
                <a:latin typeface="Consolas"/>
              </a:rPr>
              <a:t>hw.VlcRecorder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8155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Webcam preview and recording via a VLC process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088" y="5431536"/>
            <a:ext cx="5596128" cy="676656"/>
          </a:xfrm>
          <a:prstGeom prst="roundRect">
            <a:avLst>
              <a:gd name="adj" fmla="val 10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5559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0F1E27"/>
                </a:solidFill>
                <a:latin typeface="Calibri"/>
              </a:rPr>
              <a:t>Adding a backend touches four hardcoded registry sites </a:t>
            </a:r>
            <a:r>
              <a:rPr sz="1150" b="0" i="0">
                <a:solidFill>
                  <a:srgbClr val="B5642A"/>
                </a:solidFill>
                <a:latin typeface="Calibri"/>
              </a:rPr>
              <a:t>outside the class folder — there is no reflection.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SUBMODULE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Stimulus generation lives 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obj/stimgen is a git submodule pinned to an exact commit of dstolz/stimgen, released independently of this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5532120" cy="16642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9456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5642A"/>
                </a:solidFill>
                <a:latin typeface="Arial"/>
              </a:rPr>
              <a:t>A ONE-WAY DEPENDENCY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0F1E27"/>
                </a:solidFill>
                <a:latin typeface="Calibri"/>
              </a:rPr>
              <a:t>stimgen has no dependency on EPsych. 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Nothing inside it names an epsych.* or hw.* type — the two classes that translate live in </a:t>
            </a:r>
            <a:r>
              <a:rPr sz="1200" b="0" i="0">
                <a:solidFill>
                  <a:srgbClr val="1D6E8A"/>
                </a:solidFill>
                <a:latin typeface="Consolas"/>
              </a:rPr>
              <a:t>obj/+stimbridge/</a:t>
            </a:r>
            <a:r>
              <a:rPr sz="1300" b="0" i="0">
                <a:solidFill>
                  <a:srgbClr val="0F1E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58768"/>
            <a:ext cx="5532120" cy="768096"/>
          </a:xfrm>
          <a:prstGeom prst="roundRect">
            <a:avLst>
              <a:gd name="adj" fmla="val 9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005072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53A49"/>
                </a:solidFill>
                <a:latin typeface="Consolas"/>
              </a:rPr>
              <a:t>stimbridge.RuntimeHost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D6E8A"/>
                </a:solidFill>
                <a:latin typeface="Calibri"/>
              </a:rPr>
              <a:t>implements stimgen.HardwareHost over Runtime /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736592"/>
            <a:ext cx="5532120" cy="768096"/>
          </a:xfrm>
          <a:prstGeom prst="roundRect">
            <a:avLst>
              <a:gd name="adj" fmla="val 9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882896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53A49"/>
                </a:solidFill>
                <a:latin typeface="Consolas"/>
              </a:rPr>
              <a:t>stimbridge.InterfaceAdapter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D6E8A"/>
                </a:solidFill>
                <a:latin typeface="Calibri"/>
              </a:rPr>
              <a:t>implements the calibration HwAdapter over an hw.Interface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614416"/>
            <a:ext cx="5532120" cy="566928"/>
          </a:xfrm>
          <a:prstGeom prst="roundRect">
            <a:avLst>
              <a:gd name="adj" fmla="val 11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7607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F1E27"/>
                </a:solidFill>
                <a:latin typeface="Calibri"/>
              </a:rPr>
              <a:t>Clone with </a:t>
            </a:r>
            <a:r>
              <a:rPr sz="1100" b="0" i="0">
                <a:solidFill>
                  <a:srgbClr val="B5642A"/>
                </a:solidFill>
                <a:latin typeface="Consolas"/>
              </a:rPr>
              <a:t>--recurse-submodules</a:t>
            </a:r>
            <a:r>
              <a:rPr sz="1150" b="0" i="0">
                <a:solidFill>
                  <a:srgbClr val="0F1E27"/>
                </a:solidFill>
                <a:latin typeface="Calibri"/>
              </a:rPr>
              <a:t> — skipping it degrades protocols silently.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65960"/>
            <a:ext cx="5084064" cy="3127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94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THE SIGNAL PIPELINE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2578608"/>
            <a:ext cx="256032" cy="256032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25603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3A49"/>
                </a:solidFill>
                <a:latin typeface="Consolas"/>
              </a:rPr>
              <a:t>update_signal()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 implemented by each subclass</a:t>
            </a:r>
          </a:p>
        </p:txBody>
      </p:sp>
      <p:sp>
        <p:nvSpPr>
          <p:cNvPr id="17" name="Oval 16"/>
          <p:cNvSpPr/>
          <p:nvPr/>
        </p:nvSpPr>
        <p:spPr>
          <a:xfrm>
            <a:off x="6812280" y="2999232"/>
            <a:ext cx="256032" cy="256032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298094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3A49"/>
                </a:solidFill>
                <a:latin typeface="Consolas"/>
              </a:rPr>
              <a:t>apply_normalization()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 scale to [-1, 1]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3419856"/>
            <a:ext cx="256032" cy="256032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340156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3A49"/>
                </a:solidFill>
                <a:latin typeface="Consolas"/>
              </a:rPr>
              <a:t>apply_calibration()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 SPL → voltage, lookup table and EQ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3840479"/>
            <a:ext cx="256032" cy="256032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382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3A49"/>
                </a:solidFill>
                <a:latin typeface="Consolas"/>
              </a:rPr>
              <a:t>apply_gate()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 cosine-squared onset/offset window</a:t>
            </a:r>
          </a:p>
        </p:txBody>
      </p:sp>
      <p:sp>
        <p:nvSpPr>
          <p:cNvPr id="23" name="Oval 22"/>
          <p:cNvSpPr/>
          <p:nvPr/>
        </p:nvSpPr>
        <p:spPr>
          <a:xfrm>
            <a:off x="6812280" y="4261103"/>
            <a:ext cx="256032" cy="256032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424281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3A49"/>
                </a:solidFill>
                <a:latin typeface="Consolas"/>
              </a:rPr>
              <a:t>Signal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   the final waveform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1">
                <a:solidFill>
                  <a:srgbClr val="566E7C"/>
                </a:solidFill>
                <a:latin typeface="Calibri"/>
              </a:rPr>
              <a:t>Calibration precedes gating: apply_calibration renormalizes before scaling to the lookup-table voltage, which would undo an earlier ramp.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5230368"/>
            <a:ext cx="5084064" cy="950976"/>
          </a:xfrm>
          <a:prstGeom prst="roundRect">
            <a:avLst>
              <a:gd name="adj" fmla="val 9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5468112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F1E27"/>
                </a:solidFill>
                <a:latin typeface="Calibri"/>
              </a:rPr>
              <a:t>Guarded by the self-test. </a:t>
            </a:r>
            <a:r>
              <a:rPr sz="1150" b="0" i="0">
                <a:solidFill>
                  <a:srgbClr val="566E7C"/>
                </a:solidFill>
                <a:latin typeface="Calibri"/>
              </a:rPr>
              <a:t>Check A3 verifies the pinned commit still satisfies the stimbridge contract, and EPsychInfo.stimgenChksum records it in saved session metadata.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Psychophysics, online and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psychophysics.Psych subclasses run the same code either way — live against a Runtime, or post-hoc against a saved DATA struct array.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703320" cy="1371600"/>
          </a:xfrm>
          <a:prstGeom prst="roundRect">
            <a:avLst>
              <a:gd name="adj" fmla="val 9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1D6E8A"/>
                </a:solidFill>
                <a:latin typeface="Arial"/>
              </a:rPr>
              <a:t>ONLINE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E27"/>
                </a:solidFill>
                <a:latin typeface="Calibri"/>
              </a:rPr>
              <a:t>Construct with a Runtime. The object subscribes to HELPER.NewData and updates trial by trial while the session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2011680"/>
            <a:ext cx="3703320" cy="1371600"/>
          </a:xfrm>
          <a:prstGeom prst="roundRect">
            <a:avLst>
              <a:gd name="adj" fmla="val 9000"/>
            </a:avLst>
          </a:prstGeom>
          <a:solidFill>
            <a:srgbClr val="F3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231136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B5642A"/>
                </a:solidFill>
                <a:latin typeface="Arial"/>
              </a:rPr>
              <a:t>OFFLINE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E27"/>
                </a:solidFill>
                <a:latin typeface="Calibri"/>
              </a:rPr>
              <a:t>Construct with a saved per-trial DATA struct array to compute the same results after the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THE 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50208"/>
            <a:ext cx="7635240" cy="5303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873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6E8A"/>
                </a:solidFill>
                <a:latin typeface="Arial"/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4105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Hit rate, false alarm rate, and d′ from signal detection theory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53712"/>
            <a:ext cx="7635240" cy="5303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6E8A"/>
                </a:solidFill>
                <a:latin typeface="Arial"/>
              </a:rPr>
              <a:t>Staircase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4709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Reversal detection and threshold estimation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57216"/>
            <a:ext cx="7635240" cy="5303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94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6E8A"/>
                </a:solidFill>
                <a:latin typeface="Arial"/>
              </a:rPr>
              <a:t>BestPEST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5312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Maximum-likelihood threshold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60720"/>
            <a:ext cx="7635240" cy="5303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6E8A"/>
                </a:solidFill>
                <a:latin typeface="Arial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5916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66E7C"/>
                </a:solidFill>
                <a:latin typeface="Calibri"/>
              </a:rPr>
              <a:t>Bayesian maximum-likelihood estimation with sweet-point placement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639312"/>
            <a:ext cx="3081528" cy="2359152"/>
          </a:xfrm>
          <a:prstGeom prst="roundRect">
            <a:avLst>
              <a:gd name="adj" fmla="val 9000"/>
            </a:avLst>
          </a:prstGeom>
          <a:solidFill>
            <a:srgbClr val="0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3895344"/>
            <a:ext cx="254203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09353"/>
                </a:solidFill>
                <a:latin typeface="Arial"/>
              </a:rPr>
              <a:t>OUTCOME ENCODING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epsych.BitMask</a:t>
            </a:r>
            <a:r>
              <a:rPr sz="1300" b="0" i="0">
                <a:solidFill>
                  <a:srgbClr val="B8CDD8"/>
                </a:solidFill>
                <a:latin typeface="Calibri"/>
              </a:rPr>
              <a:t> is a uint32 enumeration encoding trial outcomes — Hit, Miss, CR, FA, and the rest — in a single packed value that every analysis class decodes the same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INTERFACE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The GUIs a lab actually touches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642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6E8A"/>
                </a:solidFill>
                <a:latin typeface="Arial"/>
              </a:rPr>
              <a:t>AUTHORING &amp;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D6E8A"/>
                </a:solidFill>
                <a:latin typeface="Consolas"/>
              </a:rPr>
              <a:t>epsych.ProtocolDesigner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13432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Build and edit protocols; compile and preview trials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15184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D6E8A"/>
                </a:solidFill>
                <a:latin typeface="Consolas"/>
              </a:rPr>
              <a:t>epsych.RunExpt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Subjects, protocols, session state, run/stop; saves .ecfg configs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9272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D6E8A"/>
                </a:solidFill>
                <a:latin typeface="Consolas"/>
              </a:rPr>
              <a:t>epsych.SelfTest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57016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Nine headless pre-flight check groups, with a GUI in the Help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41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42A"/>
                </a:solidFill>
                <a:latin typeface="Arial"/>
              </a:rPr>
              <a:t>LIVE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0832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Consolas"/>
              </a:rPr>
              <a:t>gui.OnlinePlot · gui.Performance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Trial-by-trial traces and running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92624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Consolas"/>
              </a:rPr>
              <a:t>gui.PsychPlot · gui.ParameterScatter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12664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Psychometric fits and generic X/Y/color scatter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614416"/>
            <a:ext cx="7635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Consolas"/>
              </a:rPr>
              <a:t>gui.StaircaseTraining · gui.PhaseSelector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34456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6E7C"/>
                </a:solidFill>
                <a:latin typeface="Calibri"/>
              </a:rPr>
              <a:t>Training control and JSON parameter phases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664208"/>
            <a:ext cx="3081528" cy="23408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3104" y="1901952"/>
            <a:ext cx="254203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B5642A"/>
                </a:solidFill>
                <a:latin typeface="Arial"/>
              </a:rPr>
              <a:t>CUSTOM BOX GUIs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D6E8A"/>
                </a:solidFill>
                <a:latin typeface="Consolas"/>
              </a:rPr>
              <a:t>gui.BoxGUI</a:t>
            </a:r>
            <a:r>
              <a:rPr sz="1250" b="0" i="0">
                <a:solidFill>
                  <a:srgbClr val="0F1E27"/>
                </a:solidFill>
                <a:latin typeface="Calibri"/>
              </a:rPr>
              <a:t> is the abstract base for per-experiment GUIs — lifecycle, event listeners, position preferences, registry teardown, and parameter wiring.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50" b="0" i="0">
                <a:solidFill>
                  <a:srgbClr val="0F1E27"/>
                </a:solidFill>
                <a:latin typeface="Calibri"/>
              </a:rPr>
              <a:t>A subclass writes build(fig) and the event hooks. Nothing else.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1D6E8A"/>
                </a:solidFill>
                <a:latin typeface="Consolas"/>
              </a:rPr>
              <a:t>examples/customgui/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187952"/>
            <a:ext cx="3081528" cy="1975104"/>
          </a:xfrm>
          <a:prstGeom prst="roundRect">
            <a:avLst>
              <a:gd name="adj" fmla="val 9000"/>
            </a:avLst>
          </a:prstGeom>
          <a:solidFill>
            <a:srgbClr val="D6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104" y="4425696"/>
            <a:ext cx="254203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1D6E8A"/>
                </a:solidFill>
                <a:latin typeface="Arial"/>
              </a:rPr>
              <a:t>ALSO IN obj/+gui/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53A49"/>
                </a:solidFill>
                <a:latin typeface="Calibri"/>
              </a:rPr>
              <a:t>History · ModeIndicator · StatusBar · Triggers · ElapsedTrialTimer · FilenameValidator · MicrophonePlot · Parameter_Control / _Monitor / _Update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5642A"/>
                </a:solidFill>
                <a:latin typeface="Arial"/>
              </a:rPr>
              <a:t>FOR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E27"/>
                </a:solidFill>
                <a:latin typeface="Arial"/>
              </a:rPr>
              <a:t>Where to plug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6E7C"/>
                </a:solidFill>
                <a:latin typeface="Calibri"/>
              </a:rPr>
              <a:t>Four common extensions, each with a reference implementation already in the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5596128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194560"/>
            <a:ext cx="329184" cy="32918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311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Add a hardware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 i="0">
                <a:solidFill>
                  <a:srgbClr val="0F1E27"/>
                </a:solidFill>
                <a:latin typeface="Calibri"/>
              </a:rPr>
              <a:t>Subclass hw.Interface; implement setup_interface, connect, get/set_parameter, trigger, and a static getCreationSpec.</a:t>
            </a:r>
          </a:p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566E7C"/>
                </a:solidFill>
                <a:latin typeface="Calibri"/>
              </a:rPr>
              <a:t>Then register it in four sites outside the class folder — omitting Protocol.createInterfaceFromStruct_ fails silently.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12464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6E8A"/>
                </a:solidFill>
                <a:latin typeface="Consolas"/>
              </a:rPr>
              <a:t>obj/+hw/@Software/  ·  documentation/hw/hw_Interface_Tutorial.md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1938528"/>
            <a:ext cx="5596128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93408" y="2194560"/>
            <a:ext cx="329184" cy="329184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2311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Add a stimulus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724912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 i="0">
                <a:solidFill>
                  <a:srgbClr val="0F1E27"/>
                </a:solidFill>
                <a:latin typeface="Calibri"/>
              </a:rPr>
              <a:t>Subclass stimgen.StimType in the submodule; implement update_signal() and declare IsMultiObj, CalibrationType, Normalization.</a:t>
            </a:r>
          </a:p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566E7C"/>
                </a:solidFill>
                <a:latin typeface="Calibri"/>
              </a:rPr>
              <a:t>The base class handles gating, normalization, and calibration. Commit to the stimgen repo, then bump the pointer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712464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5642A"/>
                </a:solidFill>
                <a:latin typeface="Consolas"/>
              </a:rPr>
              <a:t>obj/stimgen/+stimgen/Tone.m  ·  Noise.m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51376"/>
            <a:ext cx="5596128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4407408"/>
            <a:ext cx="329184" cy="329184"/>
          </a:xfrm>
          <a:prstGeom prst="ellipse">
            <a:avLst/>
          </a:prstGeom>
          <a:solidFill>
            <a:srgbClr val="1D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439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Add an online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3776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 i="0">
                <a:solidFill>
                  <a:srgbClr val="0F1E27"/>
                </a:solidFill>
                <a:latin typeface="Calibri"/>
              </a:rPr>
              <a:t>Subclass psychophysics.Psych and implement update(); wire a listener to Runtime.HELPER.NewData.</a:t>
            </a:r>
          </a:p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566E7C"/>
                </a:solidFill>
                <a:latin typeface="Calibri"/>
              </a:rPr>
              <a:t>Optionally pair it with a visualization class in obj/+gui/.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925312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6E8A"/>
                </a:solidFill>
                <a:latin typeface="Consolas"/>
              </a:rPr>
              <a:t>obj/+psychophysics/@Detection/  ·  obj/+gui/@OnlinePlot/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4151376"/>
            <a:ext cx="5596128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93408" y="4407408"/>
            <a:ext cx="329184" cy="329184"/>
          </a:xfrm>
          <a:prstGeom prst="ellipse">
            <a:avLst/>
          </a:prstGeom>
          <a:solidFill>
            <a:srgbClr val="B5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4439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E27"/>
                </a:solidFill>
                <a:latin typeface="Arial"/>
              </a:rPr>
              <a:t>Add a paradigm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93776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 i="0">
                <a:solidFill>
                  <a:srgbClr val="0F1E27"/>
                </a:solidFill>
                <a:latin typeface="Calibri"/>
              </a:rPr>
              <a:t>Custom trial selector, save function, and box GUI — no core runtime files are modified.</a:t>
            </a:r>
          </a:p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566E7C"/>
                </a:solidFill>
                <a:latin typeface="Calibri"/>
              </a:rPr>
              <a:t>Subscribe to Helper events and swap the timer callbacks from RunExpt's Customize dialog.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5925312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5642A"/>
                </a:solidFill>
                <a:latin typeface="Consolas"/>
              </a:rPr>
              <a:t>cl/  ·  examples/customgui/  ·  runtime/savefcns/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9353"/>
                </a:solidFill>
                <a:latin typeface="Arial"/>
              </a:rP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Clone, start up, design,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8" y="2194560"/>
            <a:ext cx="5852160" cy="2212848"/>
          </a:xfrm>
          <a:prstGeom prst="roundRect">
            <a:avLst>
              <a:gd name="adj" fmla="val 6000"/>
            </a:avLst>
          </a:prstGeom>
          <a:solidFill>
            <a:srgbClr val="15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46888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8FD4EC"/>
                </a:solidFill>
                <a:latin typeface="Consolas"/>
              </a:rPr>
              <a:t>git clone --recurse-submodules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7E9AA8"/>
                </a:solidFill>
                <a:latin typeface="Consolas"/>
              </a:rPr>
              <a:t>    https://github.com/dstolz/epsych2.git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9FB4BF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7EFF3"/>
                </a:solidFill>
                <a:latin typeface="Consolas"/>
              </a:rPr>
              <a:t>addpath('C:\path\to\epsych2')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7EFF3"/>
                </a:solidFill>
                <a:latin typeface="Consolas"/>
              </a:rPr>
              <a:t>epsych_startup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09353"/>
                </a:solidFill>
                <a:latin typeface="Consolas"/>
              </a:rPr>
              <a:t>epsych.ProtocolDesigner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E09353"/>
                </a:solidFill>
                <a:latin typeface="Consolas"/>
              </a:rPr>
              <a:t>epsych.RunExpt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461772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09353"/>
                </a:solidFill>
                <a:latin typeface="Calibri"/>
              </a:rPr>
              <a:t>Skipping the submodule step does not fail loudly — protocols with stimulus objects load with degraded placeholder values. epsych_startup warns when it detects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194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9353"/>
                </a:solidFill>
                <a:latin typeface="Arial"/>
              </a:rPr>
              <a:t>WHERE TO READ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786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Installation_Guide.md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prerequisites and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9626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Toolbox_Overview.md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orientation for experimenters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3467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Architecture_Overview.md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internals, for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7307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RunExpt_GUI_Overview.md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a session, walked 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114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Class_Map.md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classes and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498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epsych2/wiki</a:t>
            </a:r>
            <a:r>
              <a:rPr sz="1150" b="0" i="0">
                <a:solidFill>
                  <a:srgbClr val="9FB4BF"/>
                </a:solidFill>
                <a:latin typeface="Calibri"/>
              </a:rPr>
              <a:t>   the guided companion, two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Daniel Stolzberg, PhD</a:t>
            </a:r>
            <a:r>
              <a:rPr sz="1200" b="0" i="0">
                <a:solidFill>
                  <a:srgbClr val="7E9AA8"/>
                </a:solidFill>
                <a:latin typeface="Calibri"/>
              </a:rPr>
              <a:t>   ·   daniel.stolzberg@gmail.com   ·   GNU GPL v3.0</a:t>
            </a:r>
          </a:p>
        </p:txBody>
      </p:sp>
      <p:pic>
        <p:nvPicPr>
          <p:cNvPr id="15" name="Picture 14" descr="logo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742432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